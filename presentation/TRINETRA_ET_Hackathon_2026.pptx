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0B1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CRP AI HACKATHON 2026  ·  PROBLEM STATEMENT 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TRINETRA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548640" y="22402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Digital Public Safety Intelligence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288036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Defeating counterfeiting, fraud &amp; digital arrest scams —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at the point of contact, not the point of complaint.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3931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eyes. One truth.  ·  Citizen  ·  Banks  ·  Law Enforcement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828032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TRINETRA  ·  ET AI Hackathon 2026  ·  PS-6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10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0B1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Industrialised fraud. Reactive response.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121A2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173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1.14M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Cybercrime complaints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2023 (+60% YoY)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91840" y="128016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121A2B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0" y="14173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₹1,776 Cr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474720" y="20116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to digital arrest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scams in 9 months (2024)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26480" y="128016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121A2B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14173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309360" y="20116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FICN seizures — ₹500 fakes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defeating manual detection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10896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121A2B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2461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5800" y="356616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 enforcement lacks intelligence before mass victimisation — and reliable tools at the point of contact. Solving this needs fusion of financial intelligence, communication analysis, physical counterfeit detection, and real-time public safety coordination.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4828032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TRINETRA  ·  ET AI Hackathon 2026  ·  PS-6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0B1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TRINETRA — multi-source threat neutralisation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Digital Public Safety Intelligence platform equipping LEA, financial institutions, and citizens with proactive tools to detect, disrupt, and respond to digital fraud networks, counterfeit currency, and organised scam operations.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2697480" cy="1097280"/>
          </a:xfrm>
          <a:prstGeom prst="roundRect">
            <a:avLst>
              <a:gd name="adj" fmla="val 8333"/>
            </a:avLst>
          </a:prstGeom>
          <a:solidFill>
            <a:srgbClr val="121A2B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920240"/>
            <a:ext cx="73152" cy="10972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1488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Scam Detector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2468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on digital arrest scripts &amp; spoof patterns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91840" y="1920240"/>
            <a:ext cx="2697480" cy="1097280"/>
          </a:xfrm>
          <a:prstGeom prst="roundRect">
            <a:avLst>
              <a:gd name="adj" fmla="val 8333"/>
            </a:avLst>
          </a:prstGeom>
          <a:solidFill>
            <a:srgbClr val="121A2B"/>
          </a:solidFill>
          <a:ln/>
        </p:spPr>
      </p:sp>
      <p:sp>
        <p:nvSpPr>
          <p:cNvPr id="11" name="Shape 9"/>
          <p:cNvSpPr/>
          <p:nvPr/>
        </p:nvSpPr>
        <p:spPr>
          <a:xfrm>
            <a:off x="3291840" y="1920240"/>
            <a:ext cx="73152" cy="10972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3520440" y="21488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Currency Agent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20440" y="2468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Multi-feature counterfeit identification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1920240"/>
            <a:ext cx="2697480" cy="1097280"/>
          </a:xfrm>
          <a:prstGeom prst="roundRect">
            <a:avLst>
              <a:gd name="adj" fmla="val 8333"/>
            </a:avLst>
          </a:prstGeom>
          <a:solidFill>
            <a:srgbClr val="121A2B"/>
          </a:solidFill>
          <a:ln/>
        </p:spPr>
      </p:sp>
      <p:sp>
        <p:nvSpPr>
          <p:cNvPr id="15" name="Shape 13"/>
          <p:cNvSpPr/>
          <p:nvPr/>
        </p:nvSpPr>
        <p:spPr>
          <a:xfrm>
            <a:off x="6126480" y="1920240"/>
            <a:ext cx="73152" cy="10972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6355080" y="21488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Graph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355080" y="2468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mules, devices, compounds, victims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154680"/>
            <a:ext cx="2697480" cy="1097280"/>
          </a:xfrm>
          <a:prstGeom prst="roundRect">
            <a:avLst>
              <a:gd name="adj" fmla="val 8333"/>
            </a:avLst>
          </a:prstGeom>
          <a:solidFill>
            <a:srgbClr val="121A2B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3154680"/>
            <a:ext cx="73152" cy="10972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3832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Geospatial Intel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85800" y="37033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Hotspots &amp; patrol prioritisation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91840" y="3154680"/>
            <a:ext cx="2697480" cy="1097280"/>
          </a:xfrm>
          <a:prstGeom prst="roundRect">
            <a:avLst>
              <a:gd name="adj" fmla="val 8333"/>
            </a:avLst>
          </a:prstGeom>
          <a:solidFill>
            <a:srgbClr val="121A2B"/>
          </a:solidFill>
          <a:ln/>
        </p:spPr>
      </p:sp>
      <p:sp>
        <p:nvSpPr>
          <p:cNvPr id="23" name="Shape 21"/>
          <p:cNvSpPr/>
          <p:nvPr/>
        </p:nvSpPr>
        <p:spPr>
          <a:xfrm>
            <a:off x="3291840" y="3154680"/>
            <a:ext cx="73152" cy="10972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3520440" y="33832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Citizen Shield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3520440" y="37033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risk verdict + 1930 / NCRB guide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126480" y="3154680"/>
            <a:ext cx="2697480" cy="1097280"/>
          </a:xfrm>
          <a:prstGeom prst="roundRect">
            <a:avLst>
              <a:gd name="adj" fmla="val 8333"/>
            </a:avLst>
          </a:prstGeom>
          <a:solidFill>
            <a:srgbClr val="121A2B"/>
          </a:solidFill>
          <a:ln/>
        </p:spPr>
      </p:sp>
      <p:sp>
        <p:nvSpPr>
          <p:cNvPr id="27" name="Shape 25"/>
          <p:cNvSpPr/>
          <p:nvPr/>
        </p:nvSpPr>
        <p:spPr>
          <a:xfrm>
            <a:off x="6126480" y="3154680"/>
            <a:ext cx="73152" cy="10972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6355080" y="33832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 Centre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355080" y="37033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Fused multi-agency live ops dashboard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4828032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TRINETRA  ·  ET AI Hackathon 2026  ·  PS-6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0B1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 fabric in four layers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121A2B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121615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252728"/>
            <a:ext cx="3840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1161288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8720" y="1435608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ops UI · Citizen chat · Bank / POS views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874520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121A2B"/>
          </a:solidFill>
          <a:ln/>
        </p:spPr>
      </p:sp>
      <p:sp>
        <p:nvSpPr>
          <p:cNvPr id="11" name="Shape 9"/>
          <p:cNvSpPr/>
          <p:nvPr/>
        </p:nvSpPr>
        <p:spPr>
          <a:xfrm>
            <a:off x="594360" y="203911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2075688"/>
            <a:ext cx="3840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88720" y="1984248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 engines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2258568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scam · Currency CV features · Graph AI · Geo scoring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697480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121A2B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" y="286207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2898648"/>
            <a:ext cx="3840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88720" y="2807208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&amp; alerts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88720" y="3081528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MHA drafts · Court packages · 1930 / NCRB handoff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520440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121A2B"/>
          </a:solidFill>
          <a:ln/>
        </p:spPr>
      </p:sp>
      <p:sp>
        <p:nvSpPr>
          <p:cNvPr id="21" name="Shape 19"/>
          <p:cNvSpPr/>
          <p:nvPr/>
        </p:nvSpPr>
        <p:spPr>
          <a:xfrm>
            <a:off x="594360" y="368503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8B9BB4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3721608"/>
            <a:ext cx="3840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88720" y="3630168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adapters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88720" y="3904488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session flags · Bank FRA · State CERTs (roadmap)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4828032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TRINETRA  ·  ET AI Hackathon 2026  ·  PS-6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0B1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contact → verdict → action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0"/>
            <a:ext cx="2057400" cy="2926080"/>
          </a:xfrm>
          <a:prstGeom prst="roundRect">
            <a:avLst>
              <a:gd name="adj" fmla="val 4444"/>
            </a:avLst>
          </a:prstGeom>
          <a:solidFill>
            <a:srgbClr val="121A2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50876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2606040"/>
            <a:ext cx="1737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script, SMS, note scan, transaction link, citizen report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606040" y="1280160"/>
            <a:ext cx="2057400" cy="2926080"/>
          </a:xfrm>
          <a:prstGeom prst="roundRect">
            <a:avLst>
              <a:gd name="adj" fmla="val 4444"/>
            </a:avLst>
          </a:prstGeom>
          <a:solidFill>
            <a:srgbClr val="121A2B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0" y="150876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743200" y="21031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743200" y="2606040"/>
            <a:ext cx="1737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engines fire weighted signals / optical features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00600" y="1280160"/>
            <a:ext cx="2057400" cy="2926080"/>
          </a:xfrm>
          <a:prstGeom prst="roundRect">
            <a:avLst>
              <a:gd name="adj" fmla="val 4444"/>
            </a:avLst>
          </a:prstGeom>
          <a:solidFill>
            <a:srgbClr val="121A2B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150876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937760" y="21031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Fuse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937760" y="2606040"/>
            <a:ext cx="1737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+ geo link entities across jurisdictions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995160" y="1280160"/>
            <a:ext cx="2057400" cy="2926080"/>
          </a:xfrm>
          <a:prstGeom prst="roundRect">
            <a:avLst>
              <a:gd name="adj" fmla="val 4444"/>
            </a:avLst>
          </a:prstGeom>
          <a:solidFill>
            <a:srgbClr val="121A2B"/>
          </a:solidFill>
          <a:ln/>
        </p:spPr>
      </p:sp>
      <p:sp>
        <p:nvSpPr>
          <p:cNvPr id="18" name="Text 16"/>
          <p:cNvSpPr/>
          <p:nvPr/>
        </p:nvSpPr>
        <p:spPr>
          <a:xfrm>
            <a:off x="7132320" y="150876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7132320" y="21031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132320" y="2606040"/>
            <a:ext cx="1737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draft, fund freeze path, patrol priority, citizen SOP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4828032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TRINETRA  ·  ET AI Hackathon 2026  ·  PS-6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0B1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Measurable shift from FIR to prevention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4023360" cy="1280160"/>
          </a:xfrm>
          <a:prstGeom prst="roundRect">
            <a:avLst>
              <a:gd name="adj" fmla="val 7143"/>
            </a:avLst>
          </a:prstGeom>
          <a:solidFill>
            <a:srgbClr val="121A2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4173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₹18.4 Cr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31520" y="19202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loss prevented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143000"/>
            <a:ext cx="4023360" cy="1280160"/>
          </a:xfrm>
          <a:prstGeom prst="roundRect">
            <a:avLst>
              <a:gd name="adj" fmla="val 7143"/>
            </a:avLst>
          </a:prstGeom>
          <a:solidFill>
            <a:srgbClr val="121A2B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0" y="14173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6.4 hrs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029200" y="19202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lead time before mass victimisation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560320"/>
            <a:ext cx="4023360" cy="1280160"/>
          </a:xfrm>
          <a:prstGeom prst="roundRect">
            <a:avLst>
              <a:gd name="adj" fmla="val 7143"/>
            </a:avLst>
          </a:prstGeom>
          <a:solidFill>
            <a:srgbClr val="121A2B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8346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731520" y="33375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false-positive rate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754880" y="2560320"/>
            <a:ext cx="4023360" cy="1280160"/>
          </a:xfrm>
          <a:prstGeom prst="roundRect">
            <a:avLst>
              <a:gd name="adj" fmla="val 7143"/>
            </a:avLst>
          </a:prstGeom>
          <a:solidFill>
            <a:srgbClr val="121A2B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0" y="28346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5029200" y="33375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networks mapped (demo)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4828032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TRINETRA  ·  ET AI Hackathon 2026  ·  PS-6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0B1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BENEFITS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&amp; public impact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121A2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887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Citizens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0" y="118872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scam verdicts; guided 1930 / NCRB reporting; fewer multi-day hostage situations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709928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121A2B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84708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Banks &amp; POS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0" y="1847088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Counterfeit agent + mule graph → lower fraud loss, faster FRA action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368296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121A2B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50545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Telecom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743200" y="2505456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session flags before UPI drain completes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026664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121A2B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16382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 / MHA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743200" y="3163824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Cross-jurisdiction packages, geospatial patrol priority, audit trail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685032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121A2B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82219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743200" y="38221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crores lost after FIR → rupees saved before transfer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4828032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TRINETRA  ·  ET AI Hackathon 2026  ·  PS-6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0B1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EXCELLENCE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Aligned to PS-6 evaluation focus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4114800" cy="960120"/>
          </a:xfrm>
          <a:prstGeom prst="roundRect">
            <a:avLst>
              <a:gd name="adj" fmla="val 7619"/>
            </a:avLst>
          </a:prstGeom>
          <a:solidFill>
            <a:srgbClr val="121A2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1615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Counterfeit accuracy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5087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Microprint, thread, watermark, UV, noise, sharpness, bleed, serial consensus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051560"/>
            <a:ext cx="4114800" cy="960120"/>
          </a:xfrm>
          <a:prstGeom prst="roundRect">
            <a:avLst>
              <a:gd name="adj" fmla="val 7619"/>
            </a:avLst>
          </a:prstGeom>
          <a:solidFill>
            <a:srgbClr val="121A2B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21615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Scam precision / recall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37760" y="15087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multi-signal fusion with explainable evidence per hit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148840"/>
            <a:ext cx="4114800" cy="960120"/>
          </a:xfrm>
          <a:prstGeom prst="roundRect">
            <a:avLst>
              <a:gd name="adj" fmla="val 7619"/>
            </a:avLst>
          </a:prstGeom>
          <a:solidFill>
            <a:srgbClr val="121A2B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31343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lead time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26060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clustering before mass victimisation (demo 6.4h lead)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2148840"/>
            <a:ext cx="4114800" cy="960120"/>
          </a:xfrm>
          <a:prstGeom prst="roundRect">
            <a:avLst>
              <a:gd name="adj" fmla="val 7619"/>
            </a:avLst>
          </a:prstGeom>
          <a:solidFill>
            <a:srgbClr val="121A2B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231343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citizen FP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37760" y="26060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markers + conservative thresholds (demo 1.8% FP)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246120"/>
            <a:ext cx="4114800" cy="960120"/>
          </a:xfrm>
          <a:prstGeom prst="roundRect">
            <a:avLst>
              <a:gd name="adj" fmla="val 7619"/>
            </a:avLst>
          </a:prstGeom>
          <a:solidFill>
            <a:srgbClr val="121A2B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41071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auditability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37033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Exportable intelligence packages with jurisdictions &amp; chain narrative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3246120"/>
            <a:ext cx="4114800" cy="960120"/>
          </a:xfrm>
          <a:prstGeom prst="roundRect">
            <a:avLst>
              <a:gd name="adj" fmla="val 7619"/>
            </a:avLst>
          </a:prstGeom>
          <a:solidFill>
            <a:srgbClr val="121A2B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341071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937760" y="37033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 · TypeScript · Tailwind · Recharts · offline-first engines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4828032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TRINETRA  ·  ET AI Hackathon 2026  ·  PS-6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0B1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&amp; ROADMAP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prototype to national fabric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2743200" cy="3108960"/>
          </a:xfrm>
          <a:prstGeom prst="roundRect">
            <a:avLst>
              <a:gd name="adj" fmla="val 3333"/>
            </a:avLst>
          </a:prstGeom>
          <a:solidFill>
            <a:srgbClr val="121A2B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143000"/>
            <a:ext cx="2743200" cy="1097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630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II (now)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Working multi-module prototype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6060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Explainable offline AI engines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1089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Public GitHub + docs + deck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337560" y="1143000"/>
            <a:ext cx="2743200" cy="3108960"/>
          </a:xfrm>
          <a:prstGeom prst="roundRect">
            <a:avLst>
              <a:gd name="adj" fmla="val 3333"/>
            </a:avLst>
          </a:prstGeom>
          <a:solidFill>
            <a:srgbClr val="121A2B"/>
          </a:solidFill>
          <a:ln/>
        </p:spPr>
      </p:sp>
      <p:sp>
        <p:nvSpPr>
          <p:cNvPr id="12" name="Shape 10"/>
          <p:cNvSpPr/>
          <p:nvPr/>
        </p:nvSpPr>
        <p:spPr>
          <a:xfrm>
            <a:off x="3337560" y="1143000"/>
            <a:ext cx="2743200" cy="10972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3" name="Text 11"/>
          <p:cNvSpPr/>
          <p:nvPr/>
        </p:nvSpPr>
        <p:spPr>
          <a:xfrm>
            <a:off x="3520440" y="14630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(90 days)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20440" y="21031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Bank POS + cyber cell pilot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20440" y="26060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WhatsApp Shield channel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520440" y="31089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Graph DB + live FRA feed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17920" y="1143000"/>
            <a:ext cx="2743200" cy="3108960"/>
          </a:xfrm>
          <a:prstGeom prst="roundRect">
            <a:avLst>
              <a:gd name="adj" fmla="val 3333"/>
            </a:avLst>
          </a:prstGeom>
          <a:solidFill>
            <a:srgbClr val="121A2B"/>
          </a:solidFill>
          <a:ln/>
        </p:spPr>
      </p:sp>
      <p:sp>
        <p:nvSpPr>
          <p:cNvPr id="18" name="Shape 16"/>
          <p:cNvSpPr/>
          <p:nvPr/>
        </p:nvSpPr>
        <p:spPr>
          <a:xfrm>
            <a:off x="6217920" y="1143000"/>
            <a:ext cx="2743200" cy="10972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14630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00800" y="21031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State CERT mesh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0" y="26060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12-language IVR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0" y="31089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Voice deepfake + GNN mules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4828032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TRINETRA  ·  ET AI Hackathon 2026  ·  PS-6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0B1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EYES. ONE TRUTH.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the transfer.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just file the FIR.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3200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  ·  Public GitHub  ·  Architecture  ·  Demo ready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TRINETRA  ·  ET AI Hackathon 2026  ·  Problem Statement 6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4828032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TRINETRA  ·  ET AI Hackathon 2026  ·  PS-6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TRINETRA — AI Digital Public Safety Intelligence</dc:title>
  <dc:subject>ET AI Hackathon 2026 · Problem Statement 6</dc:subject>
  <dc:creator>TRINETRA Team</dc:creator>
  <cp:lastModifiedBy>TRINETRA Team</cp:lastModifiedBy>
  <cp:revision>1</cp:revision>
  <dcterms:created xsi:type="dcterms:W3CDTF">2026-07-22T15:14:11Z</dcterms:created>
  <dcterms:modified xsi:type="dcterms:W3CDTF">2026-07-22T15:14:11Z</dcterms:modified>
</cp:coreProperties>
</file>